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4633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9398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4708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34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3694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8241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2669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0560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2733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256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5651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849655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32482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84747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10661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42145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318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E9BE3E5-1C35-4CD2-B021-8E6A54F50E57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39508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29D4E0-46F5-657F-9E96-B9E965B681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1649910"/>
            <a:ext cx="8425563" cy="861420"/>
          </a:xfrm>
        </p:spPr>
        <p:txBody>
          <a:bodyPr/>
          <a:lstStyle/>
          <a:p>
            <a:r>
              <a:rPr lang="ru-RU" sz="4800" dirty="0"/>
              <a:t>Лабораторная работа №3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0AE8B4E-FE39-B9F0-57F6-41A4EBB9C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3171" y="2511330"/>
            <a:ext cx="8825658" cy="861420"/>
          </a:xfrm>
        </p:spPr>
        <p:txBody>
          <a:bodyPr/>
          <a:lstStyle/>
          <a:p>
            <a:r>
              <a:rPr lang="ru-RU" dirty="0"/>
              <a:t>Тема: «Подбор </a:t>
            </a:r>
            <a:r>
              <a:rPr lang="ru-RU" dirty="0" err="1"/>
              <a:t>гиперпараметров</a:t>
            </a:r>
            <a:r>
              <a:rPr lang="ru-RU" dirty="0"/>
              <a:t> модели»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8C9496-FE26-858B-6A67-5478DCCD6BDD}"/>
              </a:ext>
            </a:extLst>
          </p:cNvPr>
          <p:cNvSpPr txBox="1"/>
          <p:nvPr/>
        </p:nvSpPr>
        <p:spPr>
          <a:xfrm>
            <a:off x="6450360" y="5208090"/>
            <a:ext cx="36583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Сидоров Дмитрий Денисович</a:t>
            </a:r>
          </a:p>
          <a:p>
            <a:pPr algn="r"/>
            <a:r>
              <a:rPr lang="ru-RU" dirty="0"/>
              <a:t>М8О-309Б-23</a:t>
            </a:r>
          </a:p>
        </p:txBody>
      </p:sp>
    </p:spTree>
    <p:extLst>
      <p:ext uri="{BB962C8B-B14F-4D97-AF65-F5344CB8AC3E}">
        <p14:creationId xmlns:p14="http://schemas.microsoft.com/office/powerpoint/2010/main" val="1553999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48E527-B8AE-FA0D-465E-F7930ECD9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600" y="465080"/>
            <a:ext cx="9404723" cy="700265"/>
          </a:xfrm>
        </p:spPr>
        <p:txBody>
          <a:bodyPr/>
          <a:lstStyle/>
          <a:p>
            <a:r>
              <a:rPr lang="ru-RU" dirty="0"/>
              <a:t>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040BFC-7DD7-384E-8D98-71CB9ADDD96A}"/>
              </a:ext>
            </a:extLst>
          </p:cNvPr>
          <p:cNvSpPr txBox="1">
            <a:spLocks/>
          </p:cNvSpPr>
          <p:nvPr/>
        </p:nvSpPr>
        <p:spPr>
          <a:xfrm>
            <a:off x="492600" y="1373334"/>
            <a:ext cx="9626207" cy="4111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ru-RU" dirty="0"/>
              <a:t>Выбрать модель для обучения</a:t>
            </a:r>
          </a:p>
          <a:p>
            <a:r>
              <a:rPr lang="ru-RU" dirty="0"/>
              <a:t>Построить модель, предсказывающую </a:t>
            </a:r>
            <a:r>
              <a:rPr lang="ru-RU" dirty="0" err="1"/>
              <a:t>Sales_Volume</a:t>
            </a:r>
            <a:r>
              <a:rPr lang="ru-RU" dirty="0"/>
              <a:t> (объем продаж)</a:t>
            </a:r>
          </a:p>
          <a:p>
            <a:r>
              <a:rPr lang="ru-RU" dirty="0"/>
              <a:t>Подобрать </a:t>
            </a:r>
            <a:r>
              <a:rPr lang="ru-RU" dirty="0" err="1"/>
              <a:t>гиперпараметры</a:t>
            </a:r>
            <a:r>
              <a:rPr lang="ru-RU" dirty="0"/>
              <a:t> с помощью трёх методов:</a:t>
            </a:r>
          </a:p>
          <a:p>
            <a:pPr lvl="1"/>
            <a:r>
              <a:rPr lang="en-US" dirty="0" err="1"/>
              <a:t>GridSearch</a:t>
            </a:r>
            <a:endParaRPr lang="en-US" dirty="0"/>
          </a:p>
          <a:p>
            <a:pPr lvl="1"/>
            <a:r>
              <a:rPr lang="en-US" dirty="0" err="1"/>
              <a:t>RandomizedSearch</a:t>
            </a:r>
            <a:endParaRPr lang="en-US" dirty="0"/>
          </a:p>
          <a:p>
            <a:pPr lvl="1"/>
            <a:r>
              <a:rPr lang="en-US" dirty="0" err="1"/>
              <a:t>Optuna</a:t>
            </a:r>
            <a:endParaRPr lang="ru-RU" dirty="0"/>
          </a:p>
          <a:p>
            <a:r>
              <a:rPr lang="ru-RU" dirty="0"/>
              <a:t>Сделать локальную и глобальную интерпретации модели</a:t>
            </a:r>
          </a:p>
          <a:p>
            <a:endParaRPr lang="ru-RU" dirty="0"/>
          </a:p>
          <a:p>
            <a:endParaRPr lang="en-US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2440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79CA9-66B9-A279-E8EA-57ABB7CBE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219" y="452718"/>
            <a:ext cx="9404723" cy="814020"/>
          </a:xfrm>
        </p:spPr>
        <p:txBody>
          <a:bodyPr/>
          <a:lstStyle/>
          <a:p>
            <a:r>
              <a:rPr lang="ru-RU" dirty="0"/>
              <a:t>Описание датасета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060528-1C23-7AA6-1B47-3F2F23E8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219" y="1266738"/>
            <a:ext cx="8946541" cy="2645123"/>
          </a:xfrm>
        </p:spPr>
        <p:txBody>
          <a:bodyPr>
            <a:normAutofit/>
          </a:bodyPr>
          <a:lstStyle/>
          <a:p>
            <a:r>
              <a:rPr lang="ru-RU" dirty="0">
                <a:effectLst/>
              </a:rPr>
              <a:t>Датасет: </a:t>
            </a:r>
            <a:r>
              <a:rPr lang="en-US" dirty="0">
                <a:effectLst/>
              </a:rPr>
              <a:t>BMW worldwide sales records 2010-2024. </a:t>
            </a:r>
            <a:r>
              <a:rPr lang="ru-RU" dirty="0">
                <a:effectLst/>
              </a:rPr>
              <a:t>Он содержит записи о продажах автомобилей </a:t>
            </a:r>
            <a:r>
              <a:rPr lang="en-US" dirty="0">
                <a:effectLst/>
              </a:rPr>
              <a:t>BMW </a:t>
            </a:r>
            <a:r>
              <a:rPr lang="ru-RU" dirty="0">
                <a:effectLst/>
              </a:rPr>
              <a:t>по всему миру с 2010 по 2024 год, с фокусом на модели, регионы, характеристики и объемы продаж</a:t>
            </a:r>
          </a:p>
          <a:p>
            <a:r>
              <a:rPr lang="ru-RU" dirty="0">
                <a:effectLst/>
              </a:rPr>
              <a:t>Источник: </a:t>
            </a:r>
            <a:r>
              <a:rPr lang="en-US" dirty="0">
                <a:effectLst/>
              </a:rPr>
              <a:t>BMW sales data (2010-2024) (1).csv</a:t>
            </a:r>
            <a:endParaRPr lang="ru-RU" dirty="0">
              <a:effectLst/>
            </a:endParaRPr>
          </a:p>
          <a:p>
            <a:pPr marL="0" indent="0">
              <a:buNone/>
            </a:pPr>
            <a:r>
              <a:rPr lang="ru-RU" dirty="0"/>
              <a:t>     </a:t>
            </a:r>
            <a:r>
              <a:rPr lang="ru-RU" dirty="0">
                <a:effectLst/>
              </a:rPr>
              <a:t>Размер: 50000 строк, 11 столбцов</a:t>
            </a:r>
          </a:p>
          <a:p>
            <a:r>
              <a:rPr lang="ru-RU" dirty="0">
                <a:effectLst/>
              </a:rPr>
              <a:t>Ключевые поля: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A116F6-6D5A-EA68-C3C9-2EBA4DAC46C0}"/>
              </a:ext>
            </a:extLst>
          </p:cNvPr>
          <p:cNvSpPr txBox="1"/>
          <p:nvPr/>
        </p:nvSpPr>
        <p:spPr>
          <a:xfrm>
            <a:off x="411219" y="3976382"/>
            <a:ext cx="203836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Model</a:t>
            </a:r>
            <a:endParaRPr lang="ru-RU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Year</a:t>
            </a:r>
            <a:endParaRPr lang="ru-RU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Region</a:t>
            </a:r>
            <a:endParaRPr lang="ru-RU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Color</a:t>
            </a:r>
            <a:endParaRPr lang="ru-RU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effectLst/>
              </a:rPr>
              <a:t>Fuel_Type</a:t>
            </a:r>
            <a:endParaRPr lang="ru-RU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Transmission</a:t>
            </a:r>
            <a:endParaRPr lang="ru-RU" dirty="0"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F2D2A5-DAA4-5F29-9AD9-7395C246539C}"/>
              </a:ext>
            </a:extLst>
          </p:cNvPr>
          <p:cNvSpPr txBox="1"/>
          <p:nvPr/>
        </p:nvSpPr>
        <p:spPr>
          <a:xfrm>
            <a:off x="2449585" y="3976382"/>
            <a:ext cx="288581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effectLst/>
              </a:rPr>
              <a:t>Engine_Size_L</a:t>
            </a:r>
            <a:endParaRPr lang="en-US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effectLst/>
              </a:rPr>
              <a:t>Mileage_KM</a:t>
            </a:r>
            <a:endParaRPr lang="ru-RU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effectLst/>
              </a:rPr>
              <a:t>Price_USD</a:t>
            </a:r>
            <a:endParaRPr lang="ru-RU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effectLst/>
              </a:rPr>
              <a:t>Sales_Volume</a:t>
            </a:r>
            <a:endParaRPr lang="ru-RU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effectLst/>
              </a:rPr>
              <a:t>Sales_Classification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2552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79277C-CBA2-CC60-87D8-FB5BF2C73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104" y="435940"/>
            <a:ext cx="9404723" cy="788853"/>
          </a:xfrm>
        </p:spPr>
        <p:txBody>
          <a:bodyPr/>
          <a:lstStyle/>
          <a:p>
            <a:r>
              <a:rPr lang="ru-RU" dirty="0"/>
              <a:t>Признаки и </a:t>
            </a:r>
            <a:r>
              <a:rPr lang="ru-RU" dirty="0" err="1"/>
              <a:t>гиперпараметры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D7B810-C0F5-564A-939A-27C86E79C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104" y="1331259"/>
            <a:ext cx="8946541" cy="4195481"/>
          </a:xfrm>
        </p:spPr>
        <p:txBody>
          <a:bodyPr/>
          <a:lstStyle/>
          <a:p>
            <a:r>
              <a:rPr lang="ru-RU" dirty="0">
                <a:effectLst/>
              </a:rPr>
              <a:t>Категории: </a:t>
            </a:r>
            <a:r>
              <a:rPr lang="en-US" dirty="0">
                <a:effectLst/>
              </a:rPr>
              <a:t>Model, Region</a:t>
            </a:r>
            <a:r>
              <a:rPr lang="ru-RU" dirty="0">
                <a:effectLst/>
              </a:rPr>
              <a:t>, </a:t>
            </a:r>
            <a:r>
              <a:rPr lang="en-US" dirty="0">
                <a:effectLst/>
              </a:rPr>
              <a:t>Color, </a:t>
            </a:r>
            <a:r>
              <a:rPr lang="en-US" dirty="0" err="1">
                <a:effectLst/>
              </a:rPr>
              <a:t>Fuel_type</a:t>
            </a:r>
            <a:r>
              <a:rPr lang="en-US" dirty="0"/>
              <a:t>, Transmission</a:t>
            </a:r>
            <a:r>
              <a:rPr lang="en-US" dirty="0">
                <a:effectLst/>
              </a:rPr>
              <a:t> → </a:t>
            </a:r>
            <a:r>
              <a:rPr lang="en-US" dirty="0" err="1">
                <a:effectLst/>
              </a:rPr>
              <a:t>OneHotEncoder</a:t>
            </a:r>
            <a:endParaRPr lang="en-US" dirty="0">
              <a:effectLst/>
            </a:endParaRPr>
          </a:p>
          <a:p>
            <a:r>
              <a:rPr lang="ru-RU" dirty="0">
                <a:effectLst/>
              </a:rPr>
              <a:t>Числовые: </a:t>
            </a:r>
            <a:r>
              <a:rPr lang="en-US" dirty="0">
                <a:effectLst/>
              </a:rPr>
              <a:t>Year, </a:t>
            </a:r>
            <a:r>
              <a:rPr lang="en-US" dirty="0" err="1">
                <a:effectLst/>
              </a:rPr>
              <a:t>Engine_Size_L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Mileage_KM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Price_USD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Pipeline: </a:t>
            </a:r>
            <a:r>
              <a:rPr lang="en-US" dirty="0" err="1">
                <a:effectLst/>
              </a:rPr>
              <a:t>ColumnTransformer</a:t>
            </a:r>
            <a:r>
              <a:rPr lang="en-US" dirty="0">
                <a:effectLst/>
              </a:rPr>
              <a:t> (OHE) → </a:t>
            </a:r>
            <a:r>
              <a:rPr lang="en-US" dirty="0" err="1">
                <a:effectLst/>
              </a:rPr>
              <a:t>RandomForestRegressor</a:t>
            </a:r>
            <a:endParaRPr lang="en-US" dirty="0">
              <a:effectLst/>
            </a:endParaRPr>
          </a:p>
          <a:p>
            <a:r>
              <a:rPr lang="ru-RU" dirty="0" err="1">
                <a:effectLst/>
              </a:rPr>
              <a:t>Гиперпараметры</a:t>
            </a:r>
            <a:r>
              <a:rPr lang="ru-RU" dirty="0">
                <a:effectLst/>
              </a:rPr>
              <a:t> </a:t>
            </a:r>
            <a:r>
              <a:rPr lang="en-US" dirty="0" err="1">
                <a:effectLst/>
              </a:rPr>
              <a:t>RandomForestRegressor</a:t>
            </a:r>
            <a:r>
              <a:rPr lang="en-US" dirty="0">
                <a:effectLst/>
              </a:rPr>
              <a:t> (</a:t>
            </a:r>
            <a:r>
              <a:rPr lang="ru-RU" dirty="0">
                <a:effectLst/>
              </a:rPr>
              <a:t>перечень). Подбор: </a:t>
            </a:r>
            <a:r>
              <a:rPr lang="en-US" dirty="0" err="1">
                <a:effectLst/>
              </a:rPr>
              <a:t>n_estimators</a:t>
            </a:r>
            <a:r>
              <a:rPr lang="en-US" dirty="0">
                <a:effectLst/>
              </a:rPr>
              <a:t> — </a:t>
            </a:r>
            <a:r>
              <a:rPr lang="ru-RU" dirty="0">
                <a:effectLst/>
              </a:rPr>
              <a:t>количество деревьев, </a:t>
            </a:r>
            <a:r>
              <a:rPr lang="en-US" dirty="0" err="1">
                <a:effectLst/>
              </a:rPr>
              <a:t>max_depth</a:t>
            </a:r>
            <a:r>
              <a:rPr lang="en-US" dirty="0">
                <a:effectLst/>
              </a:rPr>
              <a:t> — </a:t>
            </a:r>
            <a:r>
              <a:rPr lang="ru-RU" dirty="0">
                <a:effectLst/>
              </a:rPr>
              <a:t>глубина, </a:t>
            </a:r>
            <a:r>
              <a:rPr lang="en-US" dirty="0" err="1">
                <a:effectLst/>
              </a:rPr>
              <a:t>min_samples_split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min_samples_leaf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max_features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8468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113C50-486C-EFE9-6A5D-9191DADC3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665" y="461107"/>
            <a:ext cx="9404723" cy="755297"/>
          </a:xfrm>
        </p:spPr>
        <p:txBody>
          <a:bodyPr/>
          <a:lstStyle/>
          <a:p>
            <a:r>
              <a:rPr lang="ru-RU" dirty="0"/>
              <a:t>Методы поиска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8E54DD-661E-2432-47FE-AFB3AD07D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665" y="1216404"/>
            <a:ext cx="8946541" cy="4195481"/>
          </a:xfrm>
        </p:spPr>
        <p:txBody>
          <a:bodyPr/>
          <a:lstStyle/>
          <a:p>
            <a:r>
              <a:rPr lang="ru-RU" dirty="0" err="1">
                <a:effectLst/>
              </a:rPr>
              <a:t>GridSearchCV</a:t>
            </a:r>
            <a:r>
              <a:rPr lang="ru-RU" dirty="0">
                <a:effectLst/>
              </a:rPr>
              <a:t> - перебирает все возможные комбинации указанных </a:t>
            </a:r>
            <a:r>
              <a:rPr lang="ru-RU" dirty="0" err="1">
                <a:effectLst/>
              </a:rPr>
              <a:t>гиперпараметров</a:t>
            </a:r>
            <a:endParaRPr lang="ru-RU" dirty="0"/>
          </a:p>
          <a:p>
            <a:r>
              <a:rPr lang="ru-RU" dirty="0" err="1">
                <a:effectLst/>
              </a:rPr>
              <a:t>RandomizedSearchCV</a:t>
            </a:r>
            <a:r>
              <a:rPr lang="ru-RU" dirty="0">
                <a:effectLst/>
              </a:rPr>
              <a:t> - выбираем случайные комбинации </a:t>
            </a:r>
            <a:r>
              <a:rPr lang="ru-RU" dirty="0" err="1">
                <a:effectLst/>
              </a:rPr>
              <a:t>гиперпараметров</a:t>
            </a:r>
            <a:r>
              <a:rPr lang="ru-RU" dirty="0">
                <a:effectLst/>
              </a:rPr>
              <a:t> из заранее определённых диапазонов</a:t>
            </a:r>
          </a:p>
          <a:p>
            <a:r>
              <a:rPr lang="ru-RU" dirty="0" err="1">
                <a:effectLst/>
              </a:rPr>
              <a:t>Optuna</a:t>
            </a:r>
            <a:r>
              <a:rPr lang="ru-RU" dirty="0">
                <a:effectLst/>
              </a:rPr>
              <a:t> - строим вероятностную модель функции потерь и используем её, чтобы выбирать новые более подходящие </a:t>
            </a:r>
            <a:r>
              <a:rPr lang="ru-RU" dirty="0" err="1">
                <a:effectLst/>
              </a:rPr>
              <a:t>гиперпараметры</a:t>
            </a:r>
            <a:endParaRPr lang="ru-RU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15569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553B85-5E5D-EC94-6E7F-6EDB1DDA9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88853"/>
          </a:xfrm>
        </p:spPr>
        <p:txBody>
          <a:bodyPr/>
          <a:lstStyle/>
          <a:p>
            <a:r>
              <a:rPr lang="ru-RU" dirty="0"/>
              <a:t>Результаты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4156D2-614E-3AFA-44C9-92CC94735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241571"/>
            <a:ext cx="8946541" cy="5163711"/>
          </a:xfrm>
        </p:spPr>
        <p:txBody>
          <a:bodyPr/>
          <a:lstStyle/>
          <a:p>
            <a:r>
              <a:rPr lang="ru-RU" dirty="0" err="1">
                <a:effectLst/>
              </a:rPr>
              <a:t>GridSearchCV</a:t>
            </a:r>
            <a:endParaRPr lang="ru-RU" dirty="0">
              <a:effectLst/>
            </a:endParaRPr>
          </a:p>
          <a:p>
            <a:pPr marL="0" indent="0">
              <a:buNone/>
            </a:pPr>
            <a:r>
              <a:rPr lang="ru-RU" dirty="0"/>
              <a:t>	</a:t>
            </a:r>
            <a:r>
              <a:rPr lang="en-US" dirty="0"/>
              <a:t>{'model__</a:t>
            </a:r>
            <a:r>
              <a:rPr lang="en-US" dirty="0" err="1"/>
              <a:t>max_depth</a:t>
            </a:r>
            <a:r>
              <a:rPr lang="en-US" dirty="0"/>
              <a:t>': 5, 'model__</a:t>
            </a:r>
            <a:r>
              <a:rPr lang="en-US" dirty="0" err="1"/>
              <a:t>min_samples_split</a:t>
            </a:r>
            <a:r>
              <a:rPr lang="en-US" dirty="0"/>
              <a:t>': 5, </a:t>
            </a:r>
            <a:r>
              <a:rPr lang="ru-RU" dirty="0"/>
              <a:t>	</a:t>
            </a:r>
            <a:r>
              <a:rPr lang="en-US" dirty="0"/>
              <a:t>'model__</a:t>
            </a:r>
            <a:r>
              <a:rPr lang="en-US" dirty="0" err="1"/>
              <a:t>n_estimators</a:t>
            </a:r>
            <a:r>
              <a:rPr lang="en-US" dirty="0"/>
              <a:t>': 300}</a:t>
            </a:r>
          </a:p>
          <a:p>
            <a:pPr marL="0" indent="0">
              <a:buNone/>
            </a:pPr>
            <a:r>
              <a:rPr lang="ru-RU" dirty="0"/>
              <a:t>	</a:t>
            </a:r>
            <a:r>
              <a:rPr lang="en-US" dirty="0"/>
              <a:t>MSE </a:t>
            </a:r>
            <a:r>
              <a:rPr lang="en-US" dirty="0" err="1"/>
              <a:t>GridSearch</a:t>
            </a:r>
            <a:r>
              <a:rPr lang="en-US" dirty="0"/>
              <a:t>: 8.174112e+06</a:t>
            </a:r>
            <a:endParaRPr lang="ru-RU" dirty="0">
              <a:effectLst/>
            </a:endParaRPr>
          </a:p>
          <a:p>
            <a:r>
              <a:rPr lang="ru-RU" dirty="0" err="1">
                <a:effectLst/>
              </a:rPr>
              <a:t>RandomizedSearchCV</a:t>
            </a:r>
            <a:endParaRPr lang="ru-RU" dirty="0">
              <a:effectLst/>
            </a:endParaRPr>
          </a:p>
          <a:p>
            <a:pPr marL="0" indent="0">
              <a:buNone/>
            </a:pPr>
            <a:r>
              <a:rPr lang="ru-RU" dirty="0"/>
              <a:t>	</a:t>
            </a:r>
            <a:r>
              <a:rPr lang="en-US" dirty="0"/>
              <a:t>{'model__</a:t>
            </a:r>
            <a:r>
              <a:rPr lang="en-US" dirty="0" err="1"/>
              <a:t>n_estimators</a:t>
            </a:r>
            <a:r>
              <a:rPr lang="en-US" dirty="0"/>
              <a:t>': 400, 'model__</a:t>
            </a:r>
            <a:r>
              <a:rPr lang="en-US" dirty="0" err="1"/>
              <a:t>min_samples_split</a:t>
            </a:r>
            <a:r>
              <a:rPr lang="en-US" dirty="0"/>
              <a:t>': 10, </a:t>
            </a:r>
            <a:r>
              <a:rPr lang="ru-RU" dirty="0"/>
              <a:t>	</a:t>
            </a:r>
            <a:r>
              <a:rPr lang="en-US" dirty="0"/>
              <a:t>'model__</a:t>
            </a:r>
            <a:r>
              <a:rPr lang="en-US" dirty="0" err="1"/>
              <a:t>max_depth</a:t>
            </a:r>
            <a:r>
              <a:rPr lang="en-US" dirty="0"/>
              <a:t>': 5}</a:t>
            </a:r>
          </a:p>
          <a:p>
            <a:pPr marL="0" indent="0">
              <a:buNone/>
            </a:pPr>
            <a:r>
              <a:rPr lang="ru-RU" dirty="0"/>
              <a:t>	</a:t>
            </a:r>
            <a:r>
              <a:rPr lang="en-US" dirty="0"/>
              <a:t>MSE </a:t>
            </a:r>
            <a:r>
              <a:rPr lang="en-US" dirty="0" err="1"/>
              <a:t>RandomSearch</a:t>
            </a:r>
            <a:r>
              <a:rPr lang="en-US" dirty="0"/>
              <a:t>: 8.174370e+06</a:t>
            </a:r>
            <a:endParaRPr lang="ru-RU" dirty="0">
              <a:effectLst/>
            </a:endParaRPr>
          </a:p>
          <a:p>
            <a:r>
              <a:rPr lang="ru-RU" dirty="0" err="1">
                <a:effectLst/>
              </a:rPr>
              <a:t>Optuna</a:t>
            </a:r>
            <a:endParaRPr lang="ru-RU" dirty="0">
              <a:effectLst/>
            </a:endParaRPr>
          </a:p>
          <a:p>
            <a:pPr marL="0" indent="0">
              <a:buNone/>
            </a:pPr>
            <a:r>
              <a:rPr lang="ru-RU" dirty="0"/>
              <a:t>	</a:t>
            </a:r>
            <a:r>
              <a:rPr lang="en-US" dirty="0"/>
              <a:t>{'</a:t>
            </a:r>
            <a:r>
              <a:rPr lang="en-US" dirty="0" err="1"/>
              <a:t>n_estimators</a:t>
            </a:r>
            <a:r>
              <a:rPr lang="en-US" dirty="0"/>
              <a:t>': 146, '</a:t>
            </a:r>
            <a:r>
              <a:rPr lang="en-US" dirty="0" err="1"/>
              <a:t>max_depth</a:t>
            </a:r>
            <a:r>
              <a:rPr lang="en-US" dirty="0"/>
              <a:t>': 5, '</a:t>
            </a:r>
            <a:r>
              <a:rPr lang="en-US" dirty="0" err="1"/>
              <a:t>min_samples_split</a:t>
            </a:r>
            <a:r>
              <a:rPr lang="en-US" dirty="0"/>
              <a:t>': 6}</a:t>
            </a:r>
          </a:p>
          <a:p>
            <a:pPr marL="0" indent="0">
              <a:buNone/>
            </a:pPr>
            <a:r>
              <a:rPr lang="ru-RU" dirty="0"/>
              <a:t>	</a:t>
            </a:r>
            <a:r>
              <a:rPr lang="en-US" dirty="0"/>
              <a:t>MSE </a:t>
            </a:r>
            <a:r>
              <a:rPr lang="en-US" dirty="0" err="1"/>
              <a:t>Optuna</a:t>
            </a:r>
            <a:r>
              <a:rPr lang="en-US" dirty="0"/>
              <a:t>: 8.173015e+06</a:t>
            </a:r>
            <a:endParaRPr lang="ru-RU" dirty="0">
              <a:effectLst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44493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1AED35-C285-F849-EBD7-B0B51CC54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13352"/>
          </a:xfrm>
        </p:spPr>
        <p:txBody>
          <a:bodyPr/>
          <a:lstStyle/>
          <a:p>
            <a:r>
              <a:rPr lang="ru-RU" dirty="0"/>
              <a:t>Выбор лучшего метода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5D46F0-359E-AE0B-EE24-FF1EC8C89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331259"/>
            <a:ext cx="8946541" cy="4195481"/>
          </a:xfrm>
        </p:spPr>
        <p:txBody>
          <a:bodyPr/>
          <a:lstStyle/>
          <a:p>
            <a:r>
              <a:rPr lang="ru-RU" dirty="0"/>
              <a:t>Сравнив три метода видно, что среднеквадратичная ошибка меньше всего у метода </a:t>
            </a:r>
            <a:r>
              <a:rPr lang="en-US" dirty="0" err="1"/>
              <a:t>Optuna</a:t>
            </a:r>
            <a:r>
              <a:rPr lang="ru-RU" dirty="0"/>
              <a:t> со значением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en-US" dirty="0"/>
              <a:t>{'</a:t>
            </a:r>
            <a:r>
              <a:rPr lang="en-US" dirty="0" err="1"/>
              <a:t>n_estimators</a:t>
            </a:r>
            <a:r>
              <a:rPr lang="en-US" dirty="0"/>
              <a:t>': 146, '</a:t>
            </a:r>
            <a:r>
              <a:rPr lang="en-US" dirty="0" err="1"/>
              <a:t>max_depth</a:t>
            </a:r>
            <a:r>
              <a:rPr lang="en-US" dirty="0"/>
              <a:t>': 5, '</a:t>
            </a:r>
            <a:r>
              <a:rPr lang="en-US" dirty="0" err="1"/>
              <a:t>min_samples_split</a:t>
            </a:r>
            <a:r>
              <a:rPr lang="en-US" dirty="0"/>
              <a:t>': 6}</a:t>
            </a:r>
          </a:p>
          <a:p>
            <a:pPr marL="0" indent="0">
              <a:buNone/>
            </a:pPr>
            <a:r>
              <a:rPr lang="en-US" dirty="0"/>
              <a:t>    MSE </a:t>
            </a:r>
            <a:r>
              <a:rPr lang="en-US" dirty="0" err="1"/>
              <a:t>Optuna</a:t>
            </a:r>
            <a:r>
              <a:rPr lang="en-US" dirty="0"/>
              <a:t>: 8.173015e+06</a:t>
            </a:r>
          </a:p>
          <a:p>
            <a:pPr marL="0" indent="0">
              <a:buNone/>
            </a:pPr>
            <a:br>
              <a:rPr lang="ru-RU" dirty="0"/>
            </a:b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1393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3A90B7-D9BE-8882-89C2-F8E98297D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Локальная интерпретация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2CA34D0-56FF-1F99-9662-0918F7305A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111" y="1328102"/>
            <a:ext cx="10486080" cy="5117101"/>
          </a:xfrm>
        </p:spPr>
      </p:pic>
    </p:spTree>
    <p:extLst>
      <p:ext uri="{BB962C8B-B14F-4D97-AF65-F5344CB8AC3E}">
        <p14:creationId xmlns:p14="http://schemas.microsoft.com/office/powerpoint/2010/main" val="199922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99C6A8-5489-801C-64F6-41BBD9B64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80464"/>
          </a:xfrm>
        </p:spPr>
        <p:txBody>
          <a:bodyPr/>
          <a:lstStyle/>
          <a:p>
            <a:r>
              <a:rPr lang="ru-RU" dirty="0"/>
              <a:t>Глобальная интерпретация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91A749B-0593-7DBC-848E-92BA25CA00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324"/>
          <a:stretch/>
        </p:blipFill>
        <p:spPr>
          <a:xfrm>
            <a:off x="896657" y="1233182"/>
            <a:ext cx="4711109" cy="5285064"/>
          </a:xfrm>
          <a:prstGeom prst="rect">
            <a:avLst/>
          </a:prstGeom>
        </p:spPr>
      </p:pic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923C5A5E-E3FB-F43B-5A1E-1DEBB1AD90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84236" y="1230509"/>
            <a:ext cx="4527985" cy="5290410"/>
          </a:xfrm>
        </p:spPr>
      </p:pic>
    </p:spTree>
    <p:extLst>
      <p:ext uri="{BB962C8B-B14F-4D97-AF65-F5344CB8AC3E}">
        <p14:creationId xmlns:p14="http://schemas.microsoft.com/office/powerpoint/2010/main" val="1950598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B138EA-24F4-05BC-C1F3-E787FDC79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Глобальная интерпретация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630401F-3376-7F93-6C0C-B304F9DFB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331119"/>
            <a:ext cx="8947150" cy="4195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Топ признаков</a:t>
            </a:r>
          </a:p>
          <a:p>
            <a:r>
              <a:rPr lang="en-US" dirty="0" err="1"/>
              <a:t>Price_USD</a:t>
            </a:r>
            <a:r>
              <a:rPr lang="en-US" dirty="0"/>
              <a:t> </a:t>
            </a:r>
            <a:r>
              <a:rPr lang="ru-RU" dirty="0"/>
              <a:t>наибольший вклад</a:t>
            </a:r>
          </a:p>
          <a:p>
            <a:r>
              <a:rPr lang="en-US" dirty="0" err="1"/>
              <a:t>Mileage_KM</a:t>
            </a:r>
            <a:r>
              <a:rPr lang="en-US" dirty="0"/>
              <a:t> – </a:t>
            </a:r>
            <a:r>
              <a:rPr lang="ru-RU" dirty="0"/>
              <a:t>сильный вклад</a:t>
            </a:r>
          </a:p>
          <a:p>
            <a:r>
              <a:rPr lang="en-US" dirty="0" err="1"/>
              <a:t>Engine_Size_L</a:t>
            </a:r>
            <a:r>
              <a:rPr lang="en-US" dirty="0"/>
              <a:t> – </a:t>
            </a:r>
            <a:r>
              <a:rPr lang="ru-RU" dirty="0"/>
              <a:t>сильный вклад</a:t>
            </a:r>
          </a:p>
          <a:p>
            <a:r>
              <a:rPr lang="en-US" dirty="0"/>
              <a:t>Year – </a:t>
            </a:r>
            <a:r>
              <a:rPr lang="ru-RU" dirty="0"/>
              <a:t>сильный вклад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81793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131</TotalTime>
  <Words>434</Words>
  <Application>Microsoft Office PowerPoint</Application>
  <PresentationFormat>Широкоэкранный</PresentationFormat>
  <Paragraphs>63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Ион</vt:lpstr>
      <vt:lpstr>Лабораторная работа №3</vt:lpstr>
      <vt:lpstr>Задачи</vt:lpstr>
      <vt:lpstr>Описание датасета</vt:lpstr>
      <vt:lpstr>Признаки и гиперпараметры</vt:lpstr>
      <vt:lpstr>Методы поиска</vt:lpstr>
      <vt:lpstr>Результаты</vt:lpstr>
      <vt:lpstr>Выбор лучшего метода</vt:lpstr>
      <vt:lpstr>Локальная интерпретация</vt:lpstr>
      <vt:lpstr>Глобальная интерпретация</vt:lpstr>
      <vt:lpstr>Глобальная интерпретация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Дмитрий</dc:creator>
  <cp:lastModifiedBy>Дмитрий</cp:lastModifiedBy>
  <cp:revision>3</cp:revision>
  <dcterms:created xsi:type="dcterms:W3CDTF">2025-11-29T17:31:18Z</dcterms:created>
  <dcterms:modified xsi:type="dcterms:W3CDTF">2025-11-29T20:35:11Z</dcterms:modified>
</cp:coreProperties>
</file>